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72" r:id="rId5"/>
    <p:sldId id="262" r:id="rId6"/>
    <p:sldId id="259" r:id="rId7"/>
    <p:sldId id="264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70ABDB6D-3D12-4BC9-8E0A-2E4B3BA9CCB5}">
          <p14:sldIdLst>
            <p14:sldId id="256"/>
            <p14:sldId id="257"/>
            <p14:sldId id="261"/>
            <p14:sldId id="272"/>
            <p14:sldId id="262"/>
            <p14:sldId id="259"/>
            <p14:sldId id="264"/>
            <p14:sldId id="271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5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00"/>
    <a:srgbClr val="00C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-1296" y="-64"/>
      </p:cViewPr>
      <p:guideLst>
        <p:guide orient="horz" pos="215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025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2F615A0A-6A41-4539-B584-1F2DF57DE8B0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76F535E8-354E-4669-A792-0E7DDA88C53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 panose="05020102010507070707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210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 panose="05020102010507070707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4110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 panose="05000000000000000000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185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 panose="050401020108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590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665" indent="-182880" algn="l" rtl="0" eaLnBrk="1" latinLnBrk="0" hangingPunct="1">
        <a:spcBef>
          <a:spcPct val="20000"/>
        </a:spcBef>
        <a:buClr>
          <a:schemeClr val="tx1"/>
        </a:buClr>
        <a:buFont typeface="Wingdings 3" panose="05040102010807070707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255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550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SSS+Defence&amp;gs_ivs=1&amp;mstk=AUtExfDFG1g9kAUtAd2OGQQCDoX5FTKI_v9G6mVaczdKJjN9ORJoqOmUCEnupJz5zHcqsTIZ-QrteH075kq7dpE1ProQe1Sz-vpRqTxVdwc71g1ZHmHzwj6jgDsq1oyKTu12rogbJeR5eeqEaL8OhYlN02nJ4MwrX48TkvQ_vG4_Sb59at4ZGcPrtaQeqHth0NVz4h9xz7kDAvbwDw_cymVTx_JmXy5pjfi9pYjvVclPj7z7dvWoUfo2pf-e3ok34Z8LFt3Q6EiKm8RA4cq0PgZp0YsIgVC0EyirQQTxW2G8a_-S1Q&amp;csui=3&amp;ved=2ahUKEwiQx7DstK2RAxVTWHADHdXiMa4QgK4QegQIARAD" TargetMode="External"/><Relationship Id="rId2" Type="http://schemas.openxmlformats.org/officeDocument/2006/relationships/hyperlink" Target="https://www.google.com/search?q=Munitions+India+Limited+(MIL)&amp;gs_ivs=1&amp;mstk=AUtExfDFG1g9kAUtAd2OGQQCDoX5FTKI_v9G6mVaczdKJjN9ORJoqOmUCEnupJz5zHcqsTIZ-QrteH075kq7dpE1ProQe1Sz-vpRqTxVdwc71g1ZHmHzwj6jgDsq1oyKTu12rogbJeR5eeqEaL8OhYlN02nJ4MwrX48TkvQ_vG4_Sb59at4ZGcPrtaQeqHth0NVz4h9xz7kDAvbwDw_cymVTx_JmXy5pjfi9pYjvVclPj7z7dvWoUfo2pf-e3ok34Z8LFt3Q6EiKm8RA4cq0PgZp0YsIgVC0EyirQQTxW2G8a_-S1Q&amp;csui=3&amp;ved=2ahUKEwiQx7DstK2RAxVTWHADHdXiMa4QgK4QegQIARAC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google.com/search?q=Yantra+India+Limited+(YIL)&amp;gs_ivs=1&amp;mstk=AUtExfDFG1g9kAUtAd2OGQQCDoX5FTKI_v9G6mVaczdKJjN9ORJoqOmUCEnupJz5zHcqsTIZ-QrteH075kq7dpE1ProQe1Sz-vpRqTxVdwc71g1ZHmHzwj6jgDsq1oyKTu12rogbJeR5eeqEaL8OhYlN02nJ4MwrX48TkvQ_vG4_Sb59at4ZGcPrtaQeqHth0NVz4h9xz7kDAvbwDw_cymVTx_JmXy5pjfi9pYjvVclPj7z7dvWoUfo2pf-e3ok34Z8LFt3Q6EiKm8RA4cq0PgZp0YsIgVC0EyirQQTxW2G8a_-S1Q&amp;csui=3&amp;ved=2ahUKEwiQx7DstK2RAxVTWHADHdXiMa4QgK4QegQIARAF" TargetMode="External"/><Relationship Id="rId4" Type="http://schemas.openxmlformats.org/officeDocument/2006/relationships/hyperlink" Target="https://www.google.com/search?q=Premier+Explosives&amp;gs_ivs=1&amp;mstk=AUtExfDFG1g9kAUtAd2OGQQCDoX5FTKI_v9G6mVaczdKJjN9ORJoqOmUCEnupJz5zHcqsTIZ-QrteH075kq7dpE1ProQe1Sz-vpRqTxVdwc71g1ZHmHzwj6jgDsq1oyKTu12rogbJeR5eeqEaL8OhYlN02nJ4MwrX48TkvQ_vG4_Sb59at4ZGcPrtaQeqHth0NVz4h9xz7kDAvbwDw_cymVTx_JmXy5pjfi9pYjvVclPj7z7dvWoUfo2pf-e3ok34Z8LFt3Q6EiKm8RA4cq0PgZp0YsIgVC0EyirQQTxW2G8a_-S1Q&amp;csui=3&amp;ved=2ahUKEwiQx7DstK2RAxVTWHADHdXiMa4QgK4QegQIARA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0"/>
            <a:ext cx="7772400" cy="914400"/>
          </a:xfrm>
        </p:spPr>
        <p:txBody>
          <a:bodyPr>
            <a:no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3600" cap="none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</a:rPr>
              <a:t>INDIAN AMMUNITION</a:t>
            </a:r>
            <a:endParaRPr lang="en-US" sz="3600" cap="none" dirty="0">
              <a:ln w="50800"/>
              <a:solidFill>
                <a:schemeClr val="bg1">
                  <a:shade val="50000"/>
                </a:schemeClr>
              </a:solidFill>
              <a:effectLst/>
            </a:endParaRPr>
          </a:p>
        </p:txBody>
      </p:sp>
      <p:sp>
        <p:nvSpPr>
          <p:cNvPr id="11266" name="AutoShape 2" descr="Artificial Intelligence (AI) - Overview, Types, Machine Learning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5214942" y="1000108"/>
            <a:ext cx="3814770" cy="990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algn="l"/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Done</a:t>
            </a:r>
            <a:r>
              <a:rPr lang="en-IN" altLang="en-US" sz="2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by:-</a:t>
            </a:r>
          </a:p>
          <a:p>
            <a:pPr algn="l"/>
            <a:r>
              <a:rPr lang="en-US" sz="2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Aman  Prasad  Bhagat</a:t>
            </a:r>
          </a:p>
          <a:p>
            <a:pPr algn="l"/>
            <a:r>
              <a:rPr lang="en-US" sz="2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MCA    Student</a:t>
            </a:r>
          </a:p>
        </p:txBody>
      </p:sp>
      <p:sp>
        <p:nvSpPr>
          <p:cNvPr id="11268" name="AutoShape 4" descr="data:image/jpeg;base64,/9j/4AAQSkZJRgABAQAAAQABAAD/2wCEAAoHCBIVFRgSEhUZGBgYGBgYGBgZGBoYGhoYGBgaGRgYGBgeIS4lHB4rHxgaJjgnKy8xNTU2GiQ7QDs0Py40NTEBDAwMEA8QHhISHzEhISE0NDQ0NDQ0NDQ0NDQ0NDQ0NDQ0NDQ0NDQ0NDQ0NDQ0NDQ0NDQ0NDQ0NDQ0NDQ0NDQ0NP/AABEIAJ8BPgMBIgACEQEDEQH/xAAbAAABBQEBAAAAAAAAAAAAAAAEAAECAwUGB//EAE0QAAIBAgQDAwYKBwMKBwAAAAECEQADBBIhMQVBURMiYQYyUnGBoRQjM0JTYpGxwdFygpKT0+HwB0TSFSRDVGOUosLU4jRFZHWDsvH/xAAYAQADAQEAAAAAAAAAAAAAAAAAAQIDBP/EACERAQEAAwACAgMBAQAAAAAAAAABAhESITEDURNBcSJh/9oADAMBAAIRAxEAPwDzCafNUKVVsJ56ftDUKVGy0sFw0hdNQpU9jUWi8amL9UUVw/D57qWzszoD+iWGb3TT3S1GvhDlskyMxdQw5gZSwE/1v4Vl4jGEwR/W1dfieF22e4beiXFzAbBXttEDXTuuTqNJ8a4ZkIlTy/ClbTmMT+FGnGKNDkUhS6quYLGLNS+Gt1oa5bKgHkfw3qs0+qXMHrjm6irU4g/pCsunFEyqbhi2k4g/pr/XsrU4ZiHdxb7W2oZhqxiOW8aDWuVWr7ZNXMqzy+PF2HF+0sOyLfttEd5TIPuoT/Kl8kkOupnQNHshaw2zMC5A84A+aNWzHbl5p20qxF3hREjcoDzjdaqZVnfjx+nQJxHFcnXf0H8eiUXbxeMiQ6cuT+P1PCsI2YZgEXRiNXw4O53AQj7NKLW3qe5a35vh/wALdPqouGP02/hWMMkMm+klxoZ37vhUhfxvW17XcfhWWlv6mG9r2vwtUfgUtZpuphcsHzWtzMHL/oesUdVPGP0JFzGdLP716ftMZ0sfvnoQW19DB/tL/Bp+zX0MF+0v8Gjqnxj9DkxWOGxtD1Yh4++k1zEOIuWcI/iXYN+2sH7aCtJbzLnTB5ZGaGScs6x8TvFRvpbzNkTBZZOWWScs6T8RvFLY4x+ksXwFnXNadEf0GdWU/o3IEHwYe2uNx73rTtbuKUdTBVhBH8vGutUKPmYL9pf4FF8S7DEfF3Bh1tDRMt3v2xzyHsgGEycp0M8jqFbarH/P8edHHNUTjGo3jnA3w7TmV0aclxNUeNx9VhzU6j1QayCKi2unGY2bgg4pqj8JaqKVLqnzF3wg03bmqqVLdPmLO2NN2pqFKjY1E+0NMXqFKjY1Cp6VKgyp6VPTIqQFOBTgUAgK1/JiBi7E7G4F9rSoH2kVlgVbbJUhlMEEEEbggyCPbTLb0DH4U2b5YapcUqV+bLTOnP79I5VynGMCquxHUnTQGea+E1p4Dj97E3Us4hlK3HVAwQAqzsFQ6bjMfea7PinkozoLbgZgSC42yDUEHnyG071N8Kxu3jjIelTtWTIP4V1eL4MiMVUyA2UE+An86qs8NggggrIJPTvgSfUQamXa7NM7ilhUUqRB09Wg6ePr1EeNYkV1HlnZyOrCIdQwjoVBB+8eyuYJpkYVICo1JTTKrEFH4ZrYR1dCztlyOHgIQ0sSsd+Rp4UCjGiFJqozyEFNGgGM46Ts8THt2091H4dEZLr3HdXBUoFAIZyxkE/NESdJHuoJGOuusjp4z+FFLdfUg7mdvX0/CtIyqSXYmS8zydQOc/NotMWIbvXZzD51s+l9T1bae6mtX7kEBm3BHdfaG6esbflV6C47KpzsrlQ0h/iySRmRm1A59IkHkarTO0VhcTbOctduooBKyltyza5VMJpOuu1OuPT6S5+6tH/krn3vNJys2WdJ3jWJjnB5Vr27rorA3HTLlLlNWZ3JyWxqNlDMehDDpS0NNbD4jOYD3CZj5G1/DrcxfCLtpFe47KhIki1aYgHmQErAw2KvIx7+LGU/OAGoMASXgkkxA35UT5ReVuIZFthu6yqyuoys4MjvQdwwZTHNTU2UTVC4nH21YgXrhAJg/B7QkcjGShm4rb+nf9xa/h1Q2IvFgqveEEArbDOFPS44YS/XptpEAp3vgEl3AGpJV4A6n4yg5FB4va+nf9xZ/h1H/LNr/WH/AHFn+HUTjHjN2+m0yYnpPa1YDfIkO5B1ByvBHX5ShUkSTjWGdTbu3HdG85DatrPRgUQEMJkGftEiuX47wdrDiMxR1D23KlSyHaVOzDYj7wQTs4E3PhFtbjXGBupC3VKKSHHyblmhxuB84SNZAJOEwtzEWLlspcd3vXijQWFu5aRGysY0Lhypk7onSlrZ75u3DlTTRVlyQagTWem8qNKnpqDKlSpUA1I09NQD09MKcUwekKVOBQRwKmBTAVYoplTqKkBSAqYFVIm10HkHgu1x+HUiQrm4f/jUuv8AxKteycaxAS25OmkT4navJOB3Tw3GF8RE2w6OFloZ0BWIGo7y6+Na/lP5f4W8ht21uEkQSUUCfCWn3Vnld+mmE+2FieKSzez7oJHSqcVxgGY5wSIjfUjx3+/TWuebFgmYOtQ7aeVRpdu3QeULC7asuIOW2V/ZdhB/PxrmGFELjGAgbQRBOkGZ++hjTBU9RpxVRK5KJt0KlFW6qIyEIKMVNG0OjAbj639aae6hrYotFrXFz5C7JthHD22ZmjIwcDJrLEgDWRp4UsI9kNNxHZMwLAOoJ0bbueJ2/KoW08PsOvsokKpBICN3hGc5TGvnAMJO2085O1Xpnao7S0HzBG86QGdSu8jMAgkeEia1+N2FsKuWcy3HKlmVi5YaXxABX5sDUaDcg0FczZmKdmhLE5g65tSdiXOXf5sVFcKRNxwrl3yIgaQzkgsTkYEAAjQEauvIGlotsxMTcTNkdlJ0OUxI1kacttNtPVV1vGJk7O8jOFYshRwhXN5yyUYFTAMaQZ61uW7GHyXHNhCLTIrnPcBZiSO4peSNGMTsJ9QXF7Nu2VZLSFXAKmbhGg7w8/qQw+q6zrSVMpfCpzbugFcPdyjuoFvoB4hQbUkzvuSTUE+C3XFu1auWnCPlY311uIjspMoNSyqIBXfSKItYi2yscqHNoA5VezEEZVB3UTIjxnWszE4pC3mK5Agu+cM5HziFYD8dNSTSVG7hHvqmV7VxiEdD2b22U5mZ+1NkDv3FJmeeRSSCJrnLnCbjktZdboJJJzBHB+ujkEHxGYeJrZ4fhLgsvfODRrZWC4Zw6w3noWZspBHnZSND41LD4pHJbtUYxE3S1q8PB3S6guDQalmOmy0qJbPTJwPBsZnCBFYOQrI1xAra6a5tCDs3L7QTcMmNVgLyC4VIyv2qLcUqdMt0MS0HYOHA5AUc11fTt/7xc/6yo9qJ8+3/ALy//W0tHcrf05/ysweS+zBcq3ALqrIOUPqySNDlfMv6tYVdn5UIHw9q4ChKO9slXz91wHQEm453Fzc89q41hU5Rr8d3EaanNKpampUqVIGpU9NQEqemp6ZEKmoqK1YKCp1FWKKioqa1UKpqKnlkRTKKttoSQqgkkgADckmAB4zVRFdbi2sXHfE4vDO9t1sMzpdyyWwiZUyCCO+qgtMHvdNW4TwXhuKR8ll0dCB3blxgQQcrlSZQaEHcDqJofjVpRhjbUlzbRUfoXs3QWKnpGKKj6tut3+y9wUxFt1gZbbFhzALgr65O/s5Cue/8dOPieXG+UHk52GVlByNzksAf0uehBrE+Djp769S8tcXb7EWlA7pAWPmqoEeyNK84ZaUp2Amw9UukVoEUNeWqKhakKRFW2UpkkiGjLWHMSKqCAtHUCKLsqVq8WWSVscjRiCqnGxHOiLZrbFz5LlTl+FFIrZSN9VIlM2gDc8pPMe+qrYEe0dPGiUy85/4Pxq5GGVOuHuakBN/omO89LfhReOss+Xs4QqpU/F3o7whoC2o1k6jrHIVHuSZLbnY2fzq8Nb179zf/ANKev1qVKUCgh0sg9xGNy6xUiYkscrAGAgCgECST6Qop+IzZa+624N5lS0AugjMcoZGAAzAaRuJ2FWYlLboUFy4AYmfg+oBmDluCdQD7KBOXPmKnsrCjKGA77SYBgkd52JIB80HfKKSpdqTxpdxYX9m1/DojDY9boj4u2GF1WLdmpU5Pi3BVFbzzyB82rLXEbqJ8ZeKdrMIlm25KK0BjJWJZTEej4iVYe5cbJau3CxnLmw1sLMaZmDnKNtY0paV4HYLiWIS18G+EWbqtK5EdxcIae6jFQA2piecDXQVxnFbFxDmzs6NOR9RMecrD5rrIBXlpuCCei4NeuXxctuod0VmYOiKmRSoIZhBTdhMaEqZABqV63nlHBfOchD91ndZhHMdzErrleIcSDMkGbF45WXywOCYRWD37pLKhACek5BIzajujLtOsjYSa2zYglbi21cGGTsVcqYmGNvDsswQYnnWXanDEoym5h7nMLrKyD3T5rrmIZCee/mONGxxKwiIqu51IKth2bIoIgDNiDA30BPq6pWVt9BPK1wlqzaXKMxe62VMmhIRJXIhnuPuOdcaxrt/KS2mJHaYcs5tIVdSmQm2GYrcRcxkAHvcxoYiY4p1ilkv4r4V01OaY1DY1KlSpGVNT01ASFOKYU4pkktTWoLVi00rFqa1BasWqhVYtdH5K4VRnxlwhUsiEJ2N5h3I65R3vXkrnFrqcQiZMPaWWtrZRyFPnXHGa4WPUNK+GQDSKnPLWJ/Hj1l/FXBsKt53t5zL6qC0ZiSJ05n8q9VwfCreGsZUAmBmMbkA/iTXi3GHZHzopTLDIRIgrqGDdZr23i14thwx0JQE8oJWax/W3RlvcjyXylxRZ2WZAOn9e331zzGtPjElyTzJrKalPQvsxqt7c1YKeKog6WNaJyhQT4UwqRshxExGtPZWBLDEx1nT11qMstpVdjDBdfs/OrEfWBt1q8ayyghhy6Vdb59ZqAWBU7Vb4uXMZbHroxEPRt+RP4UIjDWd5B5eM0QseiPtWtI58h1tG9F9+TXPHpRaq+oCXon070842FZmdNYRYnSWtzHKdKmHQf6O2dfTs+P1aVKNYW7noX948+/VeN4e1wZXS/o3p3G112DKR11FAdun0Nvf07Hj9Wl8JT6G3+8sf4aSpsPiRcts+IuIyMO5YUggjTKGWdwiDcfOKmpJi3UrbuXsSzuksquSoDqSEZdSe7BaNpI5Urt62SCbFswZjtrSgx6QUCRWViWcZ2Yhrl1iDlZXME5m80nVmj7D1FJcm/Y/E2EuXS6pftux0fKcucbOwVcwzESSNiSQDtVlm4zs1i8qreVchVoFu6g1CMRoNIKsPN0IOXzALGIVG7HM8KILB1UZh52XNAiZjXXejLrWbqi29zK6/J3WuWyUMyFYh5yTrpJU6jmDNWt7F2JKtiAQcrNbNwOSumTEIiN312z6ZwQd5iDYS76eO+3EfwabCXkuOtjFW17eVRTkVu0B8zvQVjUQdiCIMAAF3eH4RSVYWQQYIJsaEbjapPzA9q1dUgh8dIMie3PuNnWgeP8Azo2IsWnQqM11DbuII5umZFEdUG2400XRbA4P/AGH24f8AKkgt2blvs7JLOw7N7aWSpaSIDAeBn1HoaBLZdx5y6xUa0ePdn293sYyZ3yRtlzGI8I2rOrOurG7mzU1KlSUVKlTUBIU4phTimSS1YtVrVi0yqwVYtVrU1qomrVoq3iHC5Qxy75TqJ6wdKFU1Ypp6lRuz09F8hODW8RYNy+ikLeMd0AMFS2RMDUBi3vruuLAMjDwrjeD+Ulu3gLeW2y5FyHuNlZ1HfYMBEknMfFjW5g+MW8TZN23mgHKwZSIJAOnIj1Vjl7rpx3ZLXnPG8IQCY21+0x9/31zRFd1xlYtyefd+zb2R+FcQ41rONMlZFIVKKaqSYVbYuBWkiRVdIAUEnevFiY0HvirsMtUqo60dYQdavFllSuvGlW2qhftLIM1fYRetb4ubIRbNG5fOIOzRuOebeOenLSqksJrDc4E9Nd49XKjzhrAQHte+W1XKYC9ZjX+VaRzZU+AsF3yByBqdNWOVWaFGkmARVuIwxR1DXoTusVZsrwdYK66x49OtCG3aBJW8BB0kNMTpMDenv2rbM2fELJYlu657wJ5geJ2opRZicNYZ2ZXUKWB+UC9eWQwN9JNNisBhSx7Nxk0jNdAO2swnWaZeHYaHzYlQQRpkYyZI0Meup2uHYZjmOJGra9xtzJ2j10qqIPw3DZAAwz5jJ7UQRGg8z10IuBtI2YOkjabw0PX5Pcbj1V2t7gnD+wzdqJ9Lx/Q3ri8Vw3CSf85H7D/lUTLbTmz3QjcNsfSJ+/H8OicULcgWr5RAqgL8KOhAAMfF7TVFzheDyT8LGaduzuRHWY91BNw7Df60v7Fz/DQua+2iLlsgLda1dy+a1zEMWUHdQyoCVnWDMSYiTKtW8I7BcmEEkCWxN0ATzJjQVk3OG4cb4lR+pc/w0Pf4YmRrlq6twJq4UMrKp0zFWAlZ0kbSJiRKqpJ9txMPhmLBbWHOUMxK3rrkBQSWCSuYACYkULx7ipsh8Hh1CKCVuspfvuO64TMxKIYiBqwAnoI+T2Ftsp7Nw1x86OuzIhUyEX57PqsrOQEmNZFHlbY76XXAR7qZ3QcmDFS41PdfLm33J8KX6Ek61XNO01GpMB1qJFZ10xGlT01BlTU9KkD09NT0yOtWCqhUxQVXKamtVKampqomrlNWKapU1Ypqoiu58iMUb4+AXCQqq7oV0M5gXVj+sSPb4V6DhMMqWmtjkNyZM+uuG/stwozX8Qw81UtqfFyWf/6J9tdocQATrArLPW3R8dtxcNx4Ed3kJP3x+ftrirh1Nd55Q3FOYjXcVwdwa1lGtV01SIqBqknmkI6e+mFSiglqkdPfRdp1HL30ElEIdKvFlmMFxPRP7X8q1ODX8OrqbltmUHUZokfZWIpo3DHXQE67DfnHKto5sm/jsRZzM1tWUE90ZphdfDwqk9pl7QB8haA24J10B/KqcRb2OR+g1GwmZ7viPfVitcIK5bmjTAZcsmcxAyeA2/KtZ4jlvmk964CYa8ADG0nn9bXarO3vAEZ72hA8wHXXY59tD4bVMW7oBYpcgak57YAABJPyWwA32qWGxYY5A7QdflLZOgMQBZknfSlaqRS+KvSSHxGpn5P8nj7KRxV+TD4jf6P/AL6XEOJFEzBmDs/cBa24ZASC+iL3SRA6wemoBx9/E3GbP2Y0ZypKoiKIZsoPq0G5MbkUlTFpniTKrdpiL6adwNb84zt5/TnWeOIX3EpdxBHUW5HueqL9/wCEv3mZbFkbk5mCk6/pXHMaf8q6R+FswN12e3ZXuW7aPlLEfNUwdgczOQZJ6tSVJpY2KxX0mK/c/wDfT2XxTzN++gUSzOiooEgCWa4BuQI8auw4LIW7HGtmUFGF0kbjWez2j11Q64lVbJZviYDDEOr22EiFyOigtmCxBnSlVwLxHjOIVylzE3gydwjImmXQai5B9fOq8PxMvOa7ccrLK4ULetmCC1uHOdYkOhIkajYkYWJxD3HZ3MsxknQa+oaD1DSrsPwvFOBct2bhG6sqOQY5qwGvsqdteZry2Uvi4cjuLp5JiEFi5HW1dDsB6mYCfmtVHlqJurcIdWuoHdH85GDMhHq7gI20OwECr+DcNxjXES/buG0WBfOjkBBqxBbzDAOoINc9xTGvddrj7tyGgUDRVUclAAAHQUX0WM/14AmmNPTVm3KmpUqRlTU9NQEhSFNT0wenU01IUEtBqamqVNTBppXKasU1SpqQNVKVjuv7POKBDdwzEDOFdPF0BDqOpKkH9Q0Vxni9xWyrI3H315+rc/b7RsaOHFL50a4zfpw/vYGs8sOrtWOfM00XxjNMnzt6Ee1UEx5+eit9qn3ae6tTAol0HswZUSynUgSBIPMTGv8AKoyxuPlrjnMvDIa1VYtTWxfwjT5pozBcIO7Cp6VpzpsEVSa38dhcozER/L8KzbXC7rmQuVT85tAR1Ubt6xp408fKcvHsGGovDYa4+qrp6R0H28/ZWthuEW01bvt1bb2L+c0Y7V0Y4fbmzz+gFrhqjV2k9BoPzNFIFAhRH9c6a4419em22v8AKqLt8amdJ571tJIwy3V+LIy7a5hGo2gzPjt76qXE21VwyKzNswZTB16TGpB0jbpQrYrNsVgEbzqTMadNDVljK11FOU5rqAgbEF4IIO/s03nlRtHK5kKIbaKS7wWjUrb1YLprLQGMcsvUiqsIitmuXJyIQWgxnYzCL4tG/IBjyAonDcUbIhCoH+PLPlBZyFFwFyd4aCPVVeLYMqDl2V24BoO+b1xc5y6E5UUdO6OlLZyBsX2l275rZnIyLEd06IFHQCAI00q+6hP+aWCCMw7R5gOwDEmfo0AbXbduYAufFtF5zGdLFsAgDTO1svtzbO8noxGxqOOuF/hBtqiF71m3CKEUKwukqANgWRCfFaSlTZXPZoxXD2u+7xBdti8ek3movIfrGmxWLW8xxV1FS0nctWV0VmGoQRHdE5nYR53IsKhethmOHUlLFklrrkaswOUvHMk91F8eUsabDJ27i4yfFoQlm0D57DvBM2mmud303J0zLS2ch7OFZw2IvIHd4YK7raRUJyh3clQoJGVEBEgE7KJcYJWR2CpZVVl2s3hfcqWVMmRbuxLCSYGm8wCLxXFNecWrZLjNuo+UuHu5lUbKBCovJRsCTVtu3Zwzd+/c7QaEYcgBDzXtSdTyOUEeJoPytwXC+zN0ZVe4l1UViobQhj3EfuhyQolwcuukinusgbPeK3GJygFQ+ZgYjtHUveaYEIFQcmGgqeA45g7cjJeMurkl7bElZ+oN5qF/iuEIJt3L1tm0ZxatlyoRECB+0DKvcYkAic+u1Sfm3zGrg3Vc57NUZbV5suZEdYsu3etdqXHqKV51dOtbN/iFlEe3h1eXXK9x4DZJBKIiyEBgSZYkaaAmcRjU5Vp8eNm6ao09NUtipUqVIFTU9NQD0qanoB6eo09MkgakDUKcGgLAamDVINTBppsXA1MNVAaphqrZWLw1aPBOJfB7yXSJVTDr6SMIceJgyPECskNUg1HtPp7Rd4TbPxggggFSNip1BB6HQ1ZheG5p0gdelU/2cYe6+CQ3vMzN2XpG0PNBPTNmj6uWurvAAQBAHKsPx+XR+S6cdxPBW0E5QxGxYbR6K7e0zXNXrhJJOp6866fjzTNcncGtdGOMk8MMsrlfJM1UXHFO5rE4pxMLKW9W5nkPzNVvSObROOxqrOsknbSdZ19VZTYlm3OhO3qmPvNCG4zZmYzLAnbU97X7/tq1GP8A+Uutq5kH27m5JHnCe6u5zcvYdtPtFH4a7N+2A0zfQnuquoeN133NZ1jPBjPuNvU3jr7PxFaGGRhfshs+l5AM/wCmvm6mdtxpt1FOVnlDI8+04o6wT8kNyNPs0oh2LIp1M4a4x25372unr9VZlzCslpLkmHPdAJ2hg06QT3R5pMDeJFaNs3zbRbL5AcM4fXzk7e/KkgHTTcwvU6ijadI3WOXEzE9jYmIic1iYjT7Kusrmd1kLOMwwk7CRiNT4VnYAs6YgE95ktiSQBrftgSeQ1HhFX2bD2wyXDLDE4Uk975yX21DAMDrzANLZ2Ccbhs7rZDwHxt9WYagx2Kq0aZozvE+kdpNDY/GxaQ2xlFxWRBPydlWIKA83dsxdue2zEUTZb46z/wC4X/vw1NhlV7OFNxR2dlL1xyBBZRcMIW55myoOmekPQNG+DWs+166vc627TCC/g7jQdFk/OBrn3eaI4jjHuO1xzLMST09QHIDYDkBQJNLKtscf3TlqiWpiaao2vRE01KmoMqVKlSMqVKlQDUqVKgFSqeWnyijRbQpVYEFSFsdaNDaqnq0Wh1qQtDrT0XUUCnBokWR1qYsDrT0XUDA1IUULA61NcOOtVzS6gUTW5g+BXBZTGOoydooyMPOQGS7HkhIy6jx2ib/JvgK4m73z8Woz3I0JWYCjnJOk8hPhXVcb4uoPZrAAGQLl0gAgCNgKfNT1HpwUIoRdAoCj1DQUDjLsCntYnMquPnKrD1MAfxoPFiRvUSKuTA4mSxrmsTbaTpXYtgp51y/Hyikorw2zGG08BWkjO5OV4vjGEokzzNYPYuTsa6H/ACYjGTd9zflRNvg1vc3R+y35Uc2n+bHFza4W4QTlO4988vZRPwW4S2VGILTsJ3MSQI58tK3jwq1B+OEyPmvGzeFWpwe3qPhA3mCtzxiYG+tHFRfnxZmG4Vec/I3DJkxH+HxrsMN5EXlKYgKQBcVirMC2UODMKoG1Z9rhKKflVJB6XOVdEvEboyWe2hO0UAQ0nvjQn+hRccv0j8uN9uLfh15RDo+bNiZ001tRO3M+yqbmHuZE7rf+Fubj/b3onxgit3CcN7TLbW6JPbHUN9FG8chNDXsGuVfjP9A42O3bXTO3j7qfNE+SMzF4NkS+AwecNhjKzE5rGmoGoiom22a5p/e8N92Jo5sKuS9397NkbHk1nX3e+pHDLNzv/wB5sHY8hf099HNHcDWEbt7On/mF/wC/DVRj7uTAWLQHecuz/oI75B6izMf1BWthsOva2jm/vt47Hcmxp7qyvKO0vaG2G0tqtoaH5gysfa2Zv1qWqcylyjlWU9KrKnpWm1hfS9xqDYdfS++p5romUZ0GmNHthx1qBsDrU81XUB01FGwOtRNkdaXNHUD0qvNodabsh1o5PpTTVd2Y61HIKWhtXSqwqKbLRobf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271" name="AutoShape 7" descr="C:\Users\user\Downloads\ai_artificial_intelligence_ml_machine_learning_vector_by_kohb_gettyimages_1146634284-100817775-large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4400" y="2147570"/>
            <a:ext cx="7405370" cy="4612005"/>
          </a:xfrm>
          <a:prstGeom prst="rect">
            <a:avLst/>
          </a:prstGeom>
        </p:spPr>
      </p:pic>
      <p:pic>
        <p:nvPicPr>
          <p:cNvPr id="7" name="Picture 6" descr="Screenshot (349).png"/>
          <p:cNvPicPr>
            <a:picLocks noChangeAspect="1"/>
          </p:cNvPicPr>
          <p:nvPr/>
        </p:nvPicPr>
        <p:blipFill>
          <a:blip r:embed="rId3"/>
          <a:srcRect l="4687" t="29167" r="19531" b="13889"/>
          <a:stretch>
            <a:fillRect/>
          </a:stretch>
        </p:blipFill>
        <p:spPr>
          <a:xfrm>
            <a:off x="928662" y="2714621"/>
            <a:ext cx="4786345" cy="2143140"/>
          </a:xfrm>
          <a:prstGeom prst="rect">
            <a:avLst/>
          </a:prstGeom>
        </p:spPr>
      </p:pic>
    </p:spTree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676400"/>
            <a:ext cx="8077200" cy="5181600"/>
          </a:xfrm>
        </p:spPr>
        <p:txBody>
          <a:bodyPr/>
          <a:lstStyle/>
          <a:p>
            <a:r>
              <a:rPr lang="en-US" sz="2000" b="0" dirty="0"/>
              <a:t/>
            </a:r>
            <a:br>
              <a:rPr lang="en-US" sz="2000" b="0" dirty="0"/>
            </a:br>
            <a:r>
              <a:rPr lang="en-US" sz="2000" b="0" dirty="0"/>
              <a:t/>
            </a:r>
            <a:br>
              <a:rPr lang="en-US" sz="2000" b="0" dirty="0"/>
            </a:b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96" y="214290"/>
            <a:ext cx="7772400" cy="838200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India Ammunition and Defense Exports - Condensed Sample Data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5720" y="1357298"/>
            <a:ext cx="8501122" cy="5298343"/>
          </a:xfrm>
          <a:prstGeom prst="rect">
            <a:avLst/>
          </a:prstGeom>
        </p:spPr>
      </p:pic>
    </p:spTree>
  </p:cSld>
  <p:clrMapOvr>
    <a:masterClrMapping/>
  </p:clrMapOvr>
  <p:transition>
    <p:wipe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142852"/>
            <a:ext cx="838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primary Indian ammunition company is 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hlinkClick r:id="rId2"/>
              </a:rPr>
              <a:t>Munitions India Limited (MIL)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a government-owned defense PSU under the Ministry of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Defence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handling production, R&amp;D for all ammo types (small, medium, high-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calibre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), and explosives, serving Indian forces and international clients. Other significant players include private sector firms like 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hlinkClick r:id="rId3"/>
              </a:rPr>
              <a:t>SSS </a:t>
            </a:r>
            <a:r>
              <a:rPr lang="en-US" b="1" dirty="0" err="1">
                <a:solidFill>
                  <a:schemeClr val="bg1">
                    <a:lumMod val="85000"/>
                    <a:lumOff val="15000"/>
                  </a:schemeClr>
                </a:solidFill>
                <a:hlinkClick r:id="rId3"/>
              </a:rPr>
              <a:t>Defence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 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Tata Group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 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Bharat Forge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and 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hlinkClick r:id="rId4"/>
              </a:rPr>
              <a:t>Premier Explosives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plus entities like 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hlinkClick r:id="rId5"/>
              </a:rPr>
              <a:t>Yantra India Limited (YIL)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all contributing to India's growing self-reliance in defense manufacturing</a:t>
            </a:r>
          </a:p>
        </p:txBody>
      </p:sp>
      <p:pic>
        <p:nvPicPr>
          <p:cNvPr id="4" name="Picture 3" descr="Screenshot (349).png"/>
          <p:cNvPicPr>
            <a:picLocks noChangeAspect="1"/>
          </p:cNvPicPr>
          <p:nvPr/>
        </p:nvPicPr>
        <p:blipFill>
          <a:blip r:embed="rId6"/>
          <a:srcRect l="4687" t="29167" r="19531" b="13889"/>
          <a:stretch>
            <a:fillRect/>
          </a:stretch>
        </p:blipFill>
        <p:spPr>
          <a:xfrm>
            <a:off x="500034" y="2928934"/>
            <a:ext cx="8143932" cy="3442281"/>
          </a:xfrm>
          <a:prstGeom prst="rect">
            <a:avLst/>
          </a:prstGeom>
        </p:spPr>
      </p:pic>
    </p:spTree>
  </p:cSld>
  <p:clrMapOvr>
    <a:masterClrMapping/>
  </p:clrMapOvr>
  <p:transition>
    <p:wheel spokes="3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228600"/>
            <a:ext cx="8458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Key Players</a:t>
            </a:r>
            <a:r>
              <a:rPr lang="en-US" sz="2800" b="1" u="sng" dirty="0" smtClean="0"/>
              <a:t>:-</a:t>
            </a:r>
            <a:endParaRPr lang="en-US" sz="2800" b="1" u="sng" dirty="0"/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Munitions India Limited (MIL): India's largest manufacturer, spun off from the former Ordnance Factory Board, making everything from bullets to rockets, with 12 advanced factories.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SSS Defense: </a:t>
            </a:r>
            <a:r>
              <a:rPr lang="en-US" sz="2000" dirty="0" smtClean="0">
                <a:solidFill>
                  <a:schemeClr val="bg1"/>
                </a:solidFill>
              </a:rPr>
              <a:t> A </a:t>
            </a:r>
            <a:r>
              <a:rPr lang="en-US" sz="2000" dirty="0">
                <a:solidFill>
                  <a:schemeClr val="bg1"/>
                </a:solidFill>
              </a:rPr>
              <a:t>private entity known for indigenous small arms and sniper rifles (Viper, Saber). Premier Explosives Limited: A publicly traded company involved in explosives and defense-related products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Yantra India Limited (YIL</a:t>
            </a:r>
            <a:r>
              <a:rPr lang="en-US" sz="2000" dirty="0" smtClean="0">
                <a:solidFill>
                  <a:schemeClr val="bg1"/>
                </a:solidFill>
              </a:rPr>
              <a:t>):  </a:t>
            </a:r>
            <a:r>
              <a:rPr lang="en-US" sz="2000" dirty="0">
                <a:solidFill>
                  <a:schemeClr val="bg1"/>
                </a:solidFill>
              </a:rPr>
              <a:t>Another defense PSU focusing on various defense components, including artillery shells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Private 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Sector Majors: Companies like Tata, Bharat Forge, and 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Mahindra Group are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increasing their role in ammunition and defense 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systems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686355"/>
            <a:ext cx="4876800" cy="3950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94833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333300"/>
                </a:solidFill>
              </a:rPr>
              <a:t>Slicer:-</a:t>
            </a:r>
            <a:endParaRPr lang="en-US" sz="2800" dirty="0">
              <a:solidFill>
                <a:srgbClr val="3333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" y="626882"/>
            <a:ext cx="50292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Monthly Timeline: The date slicer lets users select specific months of </a:t>
            </a:r>
            <a:r>
              <a:rPr lang="en-US" dirty="0" err="1"/>
              <a:t>thef</a:t>
            </a:r>
            <a:r>
              <a:rPr lang="en-US" dirty="0"/>
              <a:t> year (e.g., June to December 2025</a:t>
            </a:r>
            <a:r>
              <a:rPr lang="en-US" dirty="0" smtClean="0"/>
              <a:t>). It </a:t>
            </a:r>
            <a:r>
              <a:rPr lang="en-US" dirty="0"/>
              <a:t>helps analyze</a:t>
            </a:r>
            <a:r>
              <a:rPr lang="en-US" dirty="0" smtClean="0"/>
              <a:t>:-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Monthly production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Export quantity fluctuations</a:t>
            </a:r>
          </a:p>
          <a:p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5929322" y="142852"/>
            <a:ext cx="304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Country Slicer:</a:t>
            </a:r>
          </a:p>
          <a:p>
            <a:r>
              <a:rPr lang="en-US" dirty="0"/>
              <a:t>This slicer lists countries such as:</a:t>
            </a:r>
          </a:p>
          <a:p>
            <a:r>
              <a:rPr lang="en-US" dirty="0"/>
              <a:t>Kazakhstan</a:t>
            </a:r>
          </a:p>
          <a:p>
            <a:r>
              <a:rPr lang="en-US" dirty="0"/>
              <a:t>Malawi</a:t>
            </a:r>
          </a:p>
          <a:p>
            <a:r>
              <a:rPr lang="en-US" dirty="0" smtClean="0"/>
              <a:t>Nepal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42844" y="3571876"/>
            <a:ext cx="3581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Ammunition Type Slicer:</a:t>
            </a:r>
          </a:p>
          <a:p>
            <a:r>
              <a:rPr lang="en-US" sz="1600" dirty="0"/>
              <a:t>The right-side slicer displays major ammunition categories,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Bomb </a:t>
            </a:r>
            <a:r>
              <a:rPr lang="en-US" sz="16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Fuuze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CARTRIDGE 12.7 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CARTRIDGE 7.62 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High-Explosive Anti-Tank Ammunition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LAPUA MAGNUM Sniper Rounds</a:t>
            </a:r>
          </a:p>
          <a:p>
            <a:endParaRPr lang="en-US" sz="1600" dirty="0"/>
          </a:p>
        </p:txBody>
      </p:sp>
    </p:spTree>
  </p:cSld>
  <p:clrMapOvr>
    <a:masterClrMapping/>
  </p:clrMapOvr>
  <p:transition>
    <p:split orient="vert"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69606" y="3810000"/>
            <a:ext cx="4121994" cy="22670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2400" y="228600"/>
            <a:ext cx="3573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“Total Profit” Line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" y="990600"/>
            <a:ext cx="480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“Total Profit” chart shows how profit has changed over time from dated</a:t>
            </a:r>
          </a:p>
          <a:p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01-01-2024 to 15-05-2025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This line chart helps identify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trends, growth patterns, sudden spikes, and drops in profit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2400" y="2744926"/>
            <a:ext cx="5029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Steady Low Profit (Jan 2024 – Oct 2024)</a:t>
            </a:r>
          </a:p>
          <a:p>
            <a:r>
              <a:rPr lang="en-US" dirty="0"/>
              <a:t>From </a:t>
            </a:r>
            <a:r>
              <a:rPr lang="en-US" b="1" dirty="0"/>
              <a:t>01-01-2024 to 22-10-2024</a:t>
            </a:r>
            <a:r>
              <a:rPr lang="en-US" dirty="0"/>
              <a:t>, the profit remains very low and almost flat.</a:t>
            </a:r>
          </a:p>
          <a:p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✔Insight: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business had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slow performance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during this period.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Profit levels were very small with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no major growth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This may indicate: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low sales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high expenses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early-stage business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seasonal demand changes</a:t>
            </a:r>
          </a:p>
          <a:p>
            <a:endParaRPr lang="en-US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ransition>
    <p:wheel spokes="8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4267200"/>
            <a:ext cx="4315427" cy="21243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228600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“Unit Sold Month” Line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9496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chart shows the </a:t>
            </a:r>
            <a:r>
              <a:rPr lang="en-US" b="1" dirty="0"/>
              <a:t>number of units sold each month</a:t>
            </a:r>
            <a:r>
              <a:rPr lang="en-US" dirty="0"/>
              <a:t> </a:t>
            </a:r>
            <a:r>
              <a:rPr lang="en-US" dirty="0" smtClean="0"/>
              <a:t>from</a:t>
            </a:r>
          </a:p>
          <a:p>
            <a:r>
              <a:rPr lang="en-US" dirty="0" smtClean="0"/>
              <a:t> </a:t>
            </a:r>
            <a:r>
              <a:rPr lang="en-US" b="1" dirty="0"/>
              <a:t>01-01-2024 to 15-03-2025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line clearly highlights </a:t>
            </a:r>
            <a:r>
              <a:rPr lang="en-US" b="1" dirty="0"/>
              <a:t>three major phases: low sales, sudden growth, and a sharp decline,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3400" y="1981200"/>
            <a:ext cx="8153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Extremely Low Sales (Jan 2024 – Jan 2025)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For almost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one full year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from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01-01-2024 to 20-01-2025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the units sold remain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flat and close to zero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</a:p>
          <a:p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✔ Insight</a:t>
            </a:r>
            <a:r>
              <a:rPr lang="en-US" b="1" dirty="0" smtClean="0">
                <a:solidFill>
                  <a:schemeClr val="bg1">
                    <a:lumMod val="85000"/>
                    <a:lumOff val="15000"/>
                  </a:schemeClr>
                </a:solidFill>
              </a:rPr>
              <a:t>:</a:t>
            </a:r>
          </a:p>
          <a:p>
            <a:endParaRPr lang="en-US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Very few units were sold during this period.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This indicates: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low market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new product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still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gaining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limited marketing</a:t>
            </a:r>
          </a:p>
          <a:p>
            <a:endParaRPr lang="en-US" dirty="0"/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14</TotalTime>
  <Words>377</Words>
  <Application>WPS Presentation</Application>
  <PresentationFormat>On-screen Show (4:3)</PresentationFormat>
  <Paragraphs>58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Apex</vt:lpstr>
      <vt:lpstr>INDIAN AMMUNITION</vt:lpstr>
      <vt:lpstr>  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user</dc:creator>
  <cp:lastModifiedBy>KAILASH</cp:lastModifiedBy>
  <cp:revision>111</cp:revision>
  <dcterms:created xsi:type="dcterms:W3CDTF">2022-10-06T06:35:00Z</dcterms:created>
  <dcterms:modified xsi:type="dcterms:W3CDTF">2025-12-08T15:33:35Z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B472753277D348BE9BA15E07152C55EC_12</vt:lpwstr>
  </property>
  <property fmtid="{D5CDD505-2E9C-101B-9397-08002B2CF9AE}" pid="3" name="KSOProductBuildVer">
    <vt:lpwstr>1033-12.2.0.21931</vt:lpwstr>
  </property>
</Properties>
</file>